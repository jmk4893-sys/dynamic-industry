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D3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"/>
            <a:ext cx="612648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280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188720" y="38404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— modules as </a:t>
            </a:r>
            <a:pPr indent="0" marL="0">
              <a:buNone/>
            </a:pPr>
            <a:r>
              <a:rPr lang="en-US" sz="15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high-grade silver ore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0" y="146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Chemical-free separation · the only profitable equation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229600" y="5029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Myung-geun Jung · jmk4893@dynamicindustry.kr · Aug 2026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11480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6344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66344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c-Si waste, 2030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322576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377440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2377440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competitors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233672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288536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850" dirty="0"/>
          </a:p>
        </p:txBody>
      </p:sp>
      <p:sp>
        <p:nvSpPr>
          <p:cNvPr id="16" name="Text 13"/>
          <p:cNvSpPr/>
          <p:nvPr/>
        </p:nvSpPr>
        <p:spPr>
          <a:xfrm>
            <a:off x="4288536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recovery · 0 chemicals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44768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199632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$8.71M</a:t>
            </a:r>
            <a:endParaRPr lang="en-US" sz="1850" dirty="0"/>
          </a:p>
        </p:txBody>
      </p:sp>
      <p:sp>
        <p:nvSpPr>
          <p:cNvPr id="19" name="Text 16"/>
          <p:cNvSpPr/>
          <p:nvPr/>
        </p:nvSpPr>
        <p:spPr>
          <a:xfrm>
            <a:off x="6199632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EBITDA · 84% margin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055864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110728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yrs</a:t>
            </a:r>
            <a:endParaRPr lang="en-US" sz="1850" dirty="0"/>
          </a:p>
        </p:txBody>
      </p:sp>
      <p:sp>
        <p:nvSpPr>
          <p:cNvPr id="22" name="Text 19"/>
          <p:cNvSpPr/>
          <p:nvPr/>
        </p:nvSpPr>
        <p:spPr>
          <a:xfrm>
            <a:off x="8110728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payback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9966960" y="1078992"/>
            <a:ext cx="180136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63500" dist="25400" dir="5400000">
              <a:srgbClr val="1B4D3E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0021824" y="1152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1850" dirty="0"/>
          </a:p>
        </p:txBody>
      </p:sp>
      <p:sp>
        <p:nvSpPr>
          <p:cNvPr id="25" name="Text 22"/>
          <p:cNvSpPr/>
          <p:nvPr/>
        </p:nvSpPr>
        <p:spPr>
          <a:xfrm>
            <a:off x="10021824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3 tranches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11480" y="2084832"/>
            <a:ext cx="3785616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12648" y="2212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PROBLEM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up, everyone loses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30936" y="2660904"/>
            <a:ext cx="91440" cy="9144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29" name="Text 26"/>
          <p:cNvSpPr/>
          <p:nvPr/>
        </p:nvSpPr>
        <p:spPr>
          <a:xfrm>
            <a:off x="832104" y="2596896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loss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-₹10,230/t (CEEW 2025, measured)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0936" y="3136392"/>
            <a:ext cx="91440" cy="9144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31" name="Text 28"/>
          <p:cNvSpPr/>
          <p:nvPr/>
        </p:nvSpPr>
        <p:spPr>
          <a:xfrm>
            <a:off x="832104" y="3072384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silver recovery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module's value discarded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30936" y="3611880"/>
            <a:ext cx="91440" cy="914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3" name="Text 30"/>
          <p:cNvSpPr/>
          <p:nvPr/>
        </p:nvSpPr>
        <p:spPr>
          <a:xfrm>
            <a:off x="832104" y="3547872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reverse logistics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buy-back 68% + collection 11%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94360" y="4041648"/>
            <a:ext cx="3419856" cy="749808"/>
          </a:xfrm>
          <a:prstGeom prst="roundRect">
            <a:avLst>
              <a:gd name="adj" fmla="val 6098"/>
            </a:avLst>
          </a:prstGeom>
          <a:solidFill>
            <a:srgbClr val="E4F2E9"/>
          </a:solidFill>
          <a:ln/>
        </p:spPr>
      </p:sp>
      <p:sp>
        <p:nvSpPr>
          <p:cNvPr id="35" name="Text 32"/>
          <p:cNvSpPr/>
          <p:nvPr/>
        </p:nvSpPr>
        <p:spPr>
          <a:xfrm>
            <a:off x="758952" y="4133088"/>
            <a:ext cx="3090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twist — modules carry </a:t>
            </a:r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300–500 ppm Ag</a:t>
            </a:r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2–5× mine cut-off grade · ~$1,000 of silver per ton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25112" y="2084832"/>
            <a:ext cx="3785616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2212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SOLUTION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98% — profit flips (₹/t)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599432" y="3776472"/>
            <a:ext cx="3236976" cy="0"/>
          </a:xfrm>
          <a:prstGeom prst="line">
            <a:avLst/>
          </a:prstGeom>
          <a:noFill/>
          <a:ln w="12700">
            <a:solidFill>
              <a:srgbClr val="B9CCC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82312" y="3776472"/>
            <a:ext cx="713232" cy="127761"/>
          </a:xfrm>
          <a:prstGeom prst="roundRect">
            <a:avLst>
              <a:gd name="adj" fmla="val 14314"/>
            </a:avLst>
          </a:prstGeom>
          <a:solidFill>
            <a:srgbClr val="C0504D"/>
          </a:solidFill>
          <a:ln/>
        </p:spPr>
      </p:sp>
      <p:sp>
        <p:nvSpPr>
          <p:cNvPr id="40" name="Text 37"/>
          <p:cNvSpPr/>
          <p:nvPr/>
        </p:nvSpPr>
        <p:spPr>
          <a:xfrm>
            <a:off x="4553712" y="3922521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-10,230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4553712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P1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61304" y="3776472"/>
            <a:ext cx="713232" cy="154125"/>
          </a:xfrm>
          <a:prstGeom prst="roundRect">
            <a:avLst>
              <a:gd name="adj" fmla="val 11866"/>
            </a:avLst>
          </a:prstGeom>
          <a:solidFill>
            <a:srgbClr val="C0504D"/>
          </a:solidFill>
          <a:ln/>
        </p:spPr>
      </p:sp>
      <p:sp>
        <p:nvSpPr>
          <p:cNvPr id="43" name="Text 40"/>
          <p:cNvSpPr/>
          <p:nvPr/>
        </p:nvSpPr>
        <p:spPr>
          <a:xfrm>
            <a:off x="5632704" y="3948885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-12,341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5632704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P2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940296" y="2724912"/>
            <a:ext cx="713232" cy="1051560"/>
          </a:xfrm>
          <a:prstGeom prst="roundRect">
            <a:avLst>
              <a:gd name="adj" fmla="val 2564"/>
            </a:avLst>
          </a:prstGeom>
          <a:solidFill>
            <a:srgbClr val="2E8B57"/>
          </a:solidFill>
          <a:ln/>
        </p:spPr>
      </p:sp>
      <p:sp>
        <p:nvSpPr>
          <p:cNvPr id="46" name="Text 43"/>
          <p:cNvSpPr/>
          <p:nvPr/>
        </p:nvSpPr>
        <p:spPr>
          <a:xfrm>
            <a:off x="6711696" y="245059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+84,200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711696" y="40873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4507992" y="4297680"/>
            <a:ext cx="3419856" cy="493776"/>
          </a:xfrm>
          <a:prstGeom prst="roundRect">
            <a:avLst>
              <a:gd name="adj" fmla="val 9259"/>
            </a:avLst>
          </a:prstGeom>
          <a:solidFill>
            <a:srgbClr val="1B4D3E"/>
          </a:solidFill>
          <a:ln/>
        </p:spPr>
      </p:sp>
      <p:sp>
        <p:nvSpPr>
          <p:cNvPr id="49" name="Text 46"/>
          <p:cNvSpPr/>
          <p:nvPr/>
        </p:nvSpPr>
        <p:spPr>
          <a:xfrm>
            <a:off x="4654296" y="4334256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10-stage physical line — 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chemicals &amp; effluent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95%+ valorization · 26.7% Ag concentrate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238744" y="2084832"/>
            <a:ext cx="3538728" cy="2871216"/>
          </a:xfrm>
          <a:prstGeom prst="roundRect">
            <a:avLst>
              <a:gd name="adj" fmla="val 2229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439912" y="2212848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ECONOMICS  </a:t>
            </a:r>
            <a:pPr indent="0" marL="0">
              <a:buNone/>
            </a:pPr>
            <a:r>
              <a:rPr lang="en-US" sz="12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at the downside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439912" y="25968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695944" y="25968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halved ($30/oz):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scenarios profitable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8439912" y="29992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695944" y="29992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buy-back: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profitable — 2.1-yr payback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8439912" y="34015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8695944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EPR &amp; gate fees at $0: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is upside (+$0.9–6.1M)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8439912" y="3858768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 — $10.41M annual sales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8439912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conc.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9354312" y="4183380"/>
            <a:ext cx="1600200" cy="137160"/>
          </a:xfrm>
          <a:prstGeom prst="roundRect">
            <a:avLst>
              <a:gd name="adj" fmla="val 13333"/>
            </a:avLst>
          </a:prstGeom>
          <a:solidFill>
            <a:srgbClr val="F5B325"/>
          </a:solidFill>
          <a:ln/>
        </p:spPr>
      </p:sp>
      <p:sp>
        <p:nvSpPr>
          <p:cNvPr id="61" name="Text 58"/>
          <p:cNvSpPr/>
          <p:nvPr/>
        </p:nvSpPr>
        <p:spPr>
          <a:xfrm>
            <a:off x="11073384" y="415137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8439912" y="440740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Aluminum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9354312" y="4439412"/>
            <a:ext cx="571500" cy="13716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64" name="Text 61"/>
          <p:cNvSpPr/>
          <p:nvPr/>
        </p:nvSpPr>
        <p:spPr>
          <a:xfrm>
            <a:off x="11073384" y="44074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8439912" y="46634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&amp; other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354312" y="4695444"/>
            <a:ext cx="685800" cy="137160"/>
          </a:xfrm>
          <a:prstGeom prst="roundRect">
            <a:avLst>
              <a:gd name="adj" fmla="val 13333"/>
            </a:avLst>
          </a:prstGeom>
          <a:solidFill>
            <a:srgbClr val="589C78"/>
          </a:solidFill>
          <a:ln/>
        </p:spPr>
      </p:sp>
      <p:sp>
        <p:nvSpPr>
          <p:cNvPr id="67" name="Text 64"/>
          <p:cNvSpPr/>
          <p:nvPr/>
        </p:nvSpPr>
        <p:spPr>
          <a:xfrm>
            <a:off x="11073384" y="46634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411480" y="5138928"/>
            <a:ext cx="11365992" cy="1207008"/>
          </a:xfrm>
          <a:prstGeom prst="roundRect">
            <a:avLst>
              <a:gd name="adj" fmla="val 5303"/>
            </a:avLst>
          </a:prstGeom>
          <a:solidFill>
            <a:srgbClr val="1B4D3E"/>
          </a:solidFill>
          <a:ln/>
        </p:spPr>
      </p:sp>
      <p:sp>
        <p:nvSpPr>
          <p:cNvPr id="69" name="Text 66"/>
          <p:cNvSpPr/>
          <p:nvPr/>
        </p:nvSpPr>
        <p:spPr>
          <a:xfrm>
            <a:off x="685800" y="53035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0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THE ASK
</a:t>
            </a:r>
            <a:pPr indent="0" marL="0">
              <a:lnSpc>
                <a:spcPts val="2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2286000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1" name="Text 68"/>
          <p:cNvSpPr/>
          <p:nvPr/>
        </p:nvSpPr>
        <p:spPr>
          <a:xfrm>
            <a:off x="2432304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· $2.0M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closing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entity · design</a:t>
            </a:r>
            <a:endParaRPr lang="en-US" sz="1100" dirty="0"/>
          </a:p>
        </p:txBody>
      </p:sp>
      <p:sp>
        <p:nvSpPr>
          <p:cNvPr id="72" name="Shape 69"/>
          <p:cNvSpPr/>
          <p:nvPr/>
        </p:nvSpPr>
        <p:spPr>
          <a:xfrm>
            <a:off x="4773168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3" name="Text 70"/>
          <p:cNvSpPr/>
          <p:nvPr/>
        </p:nvSpPr>
        <p:spPr>
          <a:xfrm>
            <a:off x="4919472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· $5.0M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success + 2 LOIs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· construction · equipment</a:t>
            </a:r>
            <a:endParaRPr lang="en-US" sz="1100" dirty="0"/>
          </a:p>
        </p:txBody>
      </p:sp>
      <p:sp>
        <p:nvSpPr>
          <p:cNvPr id="74" name="Shape 71"/>
          <p:cNvSpPr/>
          <p:nvPr/>
        </p:nvSpPr>
        <p:spPr>
          <a:xfrm>
            <a:off x="7260336" y="5303520"/>
            <a:ext cx="2340864" cy="877824"/>
          </a:xfrm>
          <a:prstGeom prst="roundRect">
            <a:avLst>
              <a:gd name="adj" fmla="val 5208"/>
            </a:avLst>
          </a:prstGeom>
          <a:solidFill>
            <a:srgbClr val="28604C"/>
          </a:solidFill>
          <a:ln/>
        </p:spPr>
      </p:sp>
      <p:sp>
        <p:nvSpPr>
          <p:cNvPr id="75" name="Text 72"/>
          <p:cNvSpPr/>
          <p:nvPr/>
        </p:nvSpPr>
        <p:spPr>
          <a:xfrm>
            <a:off x="7406640" y="5376672"/>
            <a:ext cx="20665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· $8.0M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+ collection deal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commissioning · WC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9829800" y="5303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cumulative FCF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9829800" y="55046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+$26.4M</a:t>
            </a:r>
            <a:endParaRPr lang="en-US" sz="2000" dirty="0"/>
          </a:p>
        </p:txBody>
      </p:sp>
      <p:sp>
        <p:nvSpPr>
          <p:cNvPr id="78" name="Text 75"/>
          <p:cNvSpPr/>
          <p:nvPr/>
        </p:nvSpPr>
        <p:spPr>
          <a:xfrm>
            <a:off x="9829800" y="5925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retire risk in stages</a:t>
            </a:r>
            <a:endParaRPr lang="en-US" sz="800" dirty="0"/>
          </a:p>
        </p:txBody>
      </p:sp>
      <p:sp>
        <p:nvSpPr>
          <p:cNvPr id="79" name="Text 76"/>
          <p:cNvSpPr/>
          <p:nvPr/>
        </p:nvSpPr>
        <p:spPr>
          <a:xfrm>
            <a:off x="411480" y="64739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CEEW 2025 (measured) · CEEW×MNRE 2024 · company technical report (24-chapter Korean detailed design, 9 expert-team review) — full basis in the 47-page business plan</a:t>
            </a:r>
            <a:endParaRPr lang="en-US" sz="800" dirty="0"/>
          </a:p>
        </p:txBody>
      </p:sp>
      <p:sp>
        <p:nvSpPr>
          <p:cNvPr id="80" name="Text 77"/>
          <p:cNvSpPr/>
          <p:nvPr/>
        </p:nvSpPr>
        <p:spPr>
          <a:xfrm>
            <a:off x="10698480" y="6473952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2026-08-05T13:19:40Z</dcterms:created>
  <dcterms:modified xsi:type="dcterms:W3CDTF">2026-08-05T13:19:40Z</dcterms:modified>
</cp:coreProperties>
</file>