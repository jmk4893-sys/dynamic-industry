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톤당 손익</c:v>
                </c:pt>
              </c:strCache>
            </c:strRef>
          </c:tx>
          <c:spPr>
            <a:solidFill>
              <a:srgbClr val="C0504D">
                <a:alpha val="100000"/>
              </a:srgbClr>
            </a:solidFill>
            <a:effectLst/>
          </c:spPr>
          <c:invertIfNegative val="0"/>
          <c:dLbls>
            <c:numFmt formatCode="#,##0;-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D3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기계식 P1
(CEEW)</c:v>
                  </c:pt>
                  <c:pt idx="1">
                    <c:v>화학식 P2
(CEEW)</c:v>
                  </c:pt>
                  <c:pt idx="2">
                    <c:v>Dynamic
Industry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-10230</c:v>
                </c:pt>
                <c:pt idx="1">
                  <c:v>-12341</c:v>
                </c:pt>
                <c:pt idx="2">
                  <c:v>84200</c:v>
                </c:pt>
              </c:numCache>
            </c:numRef>
          </c:val>
        </c:ser>
        <c:dLbls>
          <c:numFmt formatCode="#,##0;-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D3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00"/>
          <c:min val="-25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182880"/>
            <a:ext cx="2103120" cy="210312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-457200"/>
            <a:ext cx="3383280" cy="338328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143000"/>
            <a:ext cx="4754880" cy="475488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0928" y="502920"/>
            <a:ext cx="146304" cy="146304"/>
          </a:xfrm>
          <a:prstGeom prst="ellipse">
            <a:avLst/>
          </a:prstGeom>
          <a:solidFill>
            <a:srgbClr val="F5B32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76656"/>
            <a:ext cx="713232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713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106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SOLAR PANEL RECYCLING · INDIA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폐패널은 쓰레기가 아니라
</a:t>
            </a:r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고품위 은광석</a:t>
            </a:r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태양광 패널 재활용 — 화학공정 없는 물리선별로 은 98%를 회수해,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적자인 시장에서 유일한 흑자 방정식을 만듭니다.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570 kt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68680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 인도 c-Si 폐패널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38728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15" name="Text 12"/>
          <p:cNvSpPr/>
          <p:nvPr/>
        </p:nvSpPr>
        <p:spPr>
          <a:xfrm>
            <a:off x="3630168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개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630168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 경쟁시설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0216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18" name="Text 15"/>
          <p:cNvSpPr/>
          <p:nvPr/>
        </p:nvSpPr>
        <p:spPr>
          <a:xfrm>
            <a:off x="6391656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98%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391656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회수율 · 화학공정 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061704" y="525780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28604C"/>
          </a:solidFill>
          <a:ln/>
        </p:spPr>
      </p:sp>
      <p:sp>
        <p:nvSpPr>
          <p:cNvPr id="21" name="Text 18"/>
          <p:cNvSpPr/>
          <p:nvPr/>
        </p:nvSpPr>
        <p:spPr>
          <a:xfrm>
            <a:off x="9153144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년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153144" y="58338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회수기간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정명근 Co-founder   ·   2026. 8   ·   투자 검토 목적 한정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329184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0392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시장과 문제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물량은 확정적으로 쌓이는데, 처리할 곳이 없다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36484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764792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570 kt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2501798"/>
            <a:ext cx="3374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2030년 인도 c-Si 폐패널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(9,000t/년 설비 63기 규모)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600200"/>
            <a:ext cx="36484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07408" y="1764792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개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407408" y="2501798"/>
            <a:ext cx="3374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c-Si 상업 처리시설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시장이 통째로 비어 있다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37576" y="1600200"/>
            <a:ext cx="36484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74736" y="1764792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0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-₹10,230/t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174736" y="2501798"/>
            <a:ext cx="3374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기계식의 톤당 손실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(CEEW 2025 실측)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474720"/>
            <a:ext cx="6766560" cy="2606040"/>
          </a:xfrm>
          <a:prstGeom prst="roundRect">
            <a:avLst>
              <a:gd name="adj" fmla="val 2456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6758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모두 적자인가 — 적자의 해부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13308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50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회수율 0%  —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기계식은 모듈 가치의 절반(은)을 통째로 버리고 유리·알루미늄만 판매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485546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477316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원가의 79%가 역물류  —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폐모듈 바이백 68% + 수거·운송 11% (CEEW P1 원가 구성)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5495544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54132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병목은 피드스톡 경제학  —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기술의 문제가 아니다 — 은을 못 꺼내는 한 적자는 필연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52360" y="3474720"/>
            <a:ext cx="4233672" cy="2606040"/>
          </a:xfrm>
          <a:prstGeom prst="roundRect">
            <a:avLst>
              <a:gd name="adj" fmla="val 2456"/>
            </a:avLst>
          </a:prstGeom>
          <a:solidFill>
            <a:srgbClr val="E4F2E9"/>
          </a:solidFill>
          <a:ln/>
        </p:spPr>
      </p:sp>
      <p:sp>
        <p:nvSpPr>
          <p:cNvPr id="24" name="Text 21"/>
          <p:cNvSpPr/>
          <p:nvPr/>
        </p:nvSpPr>
        <p:spPr>
          <a:xfrm>
            <a:off x="7726680" y="3675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이 '쓰레기'의 은 함량은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26680" y="4069080"/>
            <a:ext cx="3703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30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300~500 ppm</a:t>
            </a:r>
            <a:pPr indent="0" marL="0">
              <a:lnSpc>
                <a:spcPts val="2100"/>
              </a:lnSpc>
              <a:buNone/>
            </a:pPr>
            <a:endParaRPr lang="en-US" sz="30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은광 채굴한계품위(100~150ppm)의 2~5배.</a:t>
            </a:r>
            <a:endParaRPr lang="en-US" sz="30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채굴이 필요 없는 광석이 지표에 쌓이고 있다 — 1톤당 함유 은 가치 약 $1,000.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태양광 패널 재활용  ·  Elevator Pitch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329184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0392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솔루션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화학공정 없이 은 98% 회수 — 단위경제가 뒤집힌다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5120640" cy="3291840"/>
          </a:xfrm>
          <a:prstGeom prst="roundRect">
            <a:avLst>
              <a:gd name="adj" fmla="val 1944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 회수율 — 당사 vs 기존 기계식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(Ag)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11680" y="2221992"/>
            <a:ext cx="2688336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2194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11680" y="248716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C9D6CE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24323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구리 (Cu)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011680" y="2843784"/>
            <a:ext cx="2699309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28163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98.4%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11680" y="3108960"/>
            <a:ext cx="2606040" cy="128016"/>
          </a:xfrm>
          <a:prstGeom prst="roundRect">
            <a:avLst>
              <a:gd name="adj" fmla="val 14286"/>
            </a:avLst>
          </a:prstGeom>
          <a:solidFill>
            <a:srgbClr val="C9D6CE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30540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011680" y="3465576"/>
            <a:ext cx="2723998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99.3%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011680" y="3730752"/>
            <a:ext cx="2441448" cy="128016"/>
          </a:xfrm>
          <a:prstGeom prst="roundRect">
            <a:avLst>
              <a:gd name="adj" fmla="val 14286"/>
            </a:avLst>
          </a:prstGeom>
          <a:solidFill>
            <a:srgbClr val="C9D6CE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7240" y="40782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011680" y="4087368"/>
            <a:ext cx="2732227" cy="219456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40599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99.6%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011680" y="4352544"/>
            <a:ext cx="2715768" cy="128016"/>
          </a:xfrm>
          <a:prstGeom prst="roundRect">
            <a:avLst>
              <a:gd name="adj" fmla="val 14286"/>
            </a:avLst>
          </a:prstGeom>
          <a:solidFill>
            <a:srgbClr val="C9D6CE"/>
          </a:solidFill>
          <a:ln/>
        </p:spPr>
      </p:sp>
      <p:sp>
        <p:nvSpPr>
          <p:cNvPr id="27" name="Text 24"/>
          <p:cNvSpPr/>
          <p:nvPr/>
        </p:nvSpPr>
        <p:spPr>
          <a:xfrm>
            <a:off x="4800600" y="42976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897880" y="1600200"/>
            <a:ext cx="5788152" cy="3291840"/>
          </a:xfrm>
          <a:prstGeom prst="roundRect">
            <a:avLst>
              <a:gd name="adj" fmla="val 1944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톤당 손익 (₹/t) — 적자 시장의 유일한 흑자</a:t>
            </a:r>
            <a:endParaRPr lang="en-US" sz="14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126480" y="2148840"/>
          <a:ext cx="5349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7"/>
          <p:cNvSpPr/>
          <p:nvPr/>
        </p:nvSpPr>
        <p:spPr>
          <a:xfrm>
            <a:off x="502920" y="5120640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1B4D3E"/>
          </a:solidFill>
          <a:ln/>
        </p:spPr>
      </p:sp>
      <p:sp>
        <p:nvSpPr>
          <p:cNvPr id="32" name="Text 28"/>
          <p:cNvSpPr/>
          <p:nvPr/>
        </p:nvSpPr>
        <p:spPr>
          <a:xfrm>
            <a:off x="822960" y="5230368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10단계 물리선별 일관 라인 — 습식 어트리션 + REFLUX™ 중력선별 + 부유선별로 은 정광 26.7% 산출.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화학약품·화학폐액 제로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물질 유가화율 95%+ (한국 상세설계 24개 장 · 전문가 9팀 검토 완료)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태양광 패널 재활용  ·  Elevator Pitch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329184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0392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경제성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게이트피 없이 EBITDA $8.71M — 하방까지 검증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76479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$12.25M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247528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 (CAPEX)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검증설계 대비 12% 절감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28416" y="1600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65576" y="176479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$8.71M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465576" y="247528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EBITDA (기본 시나리오)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마진 84% · OPEX 한국의 60%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53912" y="1600200"/>
            <a:ext cx="2697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91072" y="176479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년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291072" y="2475281"/>
            <a:ext cx="24231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회수기간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(가동 후 BEP 약 2.0년)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79408" y="1600200"/>
            <a:ext cx="2706624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76200" dist="25400" dir="5400000">
              <a:srgbClr val="1B4D3E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16568" y="1764792"/>
            <a:ext cx="24323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+$26.4M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116568" y="2475281"/>
            <a:ext cx="243230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누적 FCF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(기본 시나리오)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429000"/>
            <a:ext cx="6766560" cy="2651760"/>
          </a:xfrm>
          <a:prstGeom prst="roundRect">
            <a:avLst>
              <a:gd name="adj" fmla="val 2414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611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하방 검증 — 어떤 가정에서도 흑자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4069080"/>
            <a:ext cx="274320" cy="274320"/>
          </a:xfrm>
          <a:prstGeom prst="ellipse">
            <a:avLst/>
          </a:prstGeom>
          <a:solidFill>
            <a:srgbClr val="E4F2E9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34440" y="4041648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은값 반토막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$59.8 → $30/oz에도 3개 시나리오 전부 흑자 (B: $8.71M → $5.8M)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2960" y="4727448"/>
            <a:ext cx="274320" cy="274320"/>
          </a:xfrm>
          <a:prstGeom prst="ellipse">
            <a:avLst/>
          </a:prstGeom>
          <a:solidFill>
            <a:srgbClr val="E4F2E9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34440" y="470001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피드스톡 최악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폐패널을 돈 주고 사오는 바이백(C)에도 흑자 — 회수 2.1년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5385816"/>
            <a:ext cx="274320" cy="274320"/>
          </a:xfrm>
          <a:prstGeom prst="ellipse">
            <a:avLst/>
          </a:prstGeom>
          <a:solidFill>
            <a:srgbClr val="E4F2E9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385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34440" y="535838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보수 원칙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EPR·게이트피·보조금 수익 $0 계상 — 규제는 상방 옵션 (+$0.9~6.1M)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52360" y="3429000"/>
            <a:ext cx="4233672" cy="2651760"/>
          </a:xfrm>
          <a:prstGeom prst="roundRect">
            <a:avLst>
              <a:gd name="adj" fmla="val 2414"/>
            </a:avLst>
          </a:prstGeom>
          <a:solidFill>
            <a:srgbClr val="E4F2E9"/>
          </a:solidFill>
          <a:ln/>
        </p:spPr>
      </p:sp>
      <p:sp>
        <p:nvSpPr>
          <p:cNvPr id="30" name="Text 27"/>
          <p:cNvSpPr/>
          <p:nvPr/>
        </p:nvSpPr>
        <p:spPr>
          <a:xfrm>
            <a:off x="7726680" y="3611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구조 — 연 소재매출 $10.41M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726680" y="4041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정광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823960" y="4087368"/>
            <a:ext cx="2103120" cy="182880"/>
          </a:xfrm>
          <a:prstGeom prst="roundRect">
            <a:avLst>
              <a:gd name="adj" fmla="val 10000"/>
            </a:avLst>
          </a:prstGeom>
          <a:solidFill>
            <a:srgbClr val="F5B325"/>
          </a:solidFill>
          <a:ln/>
        </p:spPr>
      </p:sp>
      <p:sp>
        <p:nvSpPr>
          <p:cNvPr id="33" name="Text 30"/>
          <p:cNvSpPr/>
          <p:nvPr/>
        </p:nvSpPr>
        <p:spPr>
          <a:xfrm>
            <a:off x="1101852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56%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726680" y="44439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823960" y="4489704"/>
            <a:ext cx="751114" cy="18288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/>
        </p:spPr>
      </p:sp>
      <p:sp>
        <p:nvSpPr>
          <p:cNvPr id="36" name="Text 33"/>
          <p:cNvSpPr/>
          <p:nvPr/>
        </p:nvSpPr>
        <p:spPr>
          <a:xfrm>
            <a:off x="11018520" y="4443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726680" y="4846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구리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823960" y="4892040"/>
            <a:ext cx="600891" cy="182880"/>
          </a:xfrm>
          <a:prstGeom prst="roundRect">
            <a:avLst>
              <a:gd name="adj" fmla="val 10000"/>
            </a:avLst>
          </a:prstGeom>
          <a:solidFill>
            <a:srgbClr val="589C78"/>
          </a:solidFill>
          <a:ln/>
        </p:spPr>
      </p:sp>
      <p:sp>
        <p:nvSpPr>
          <p:cNvPr id="39" name="Text 36"/>
          <p:cNvSpPr/>
          <p:nvPr/>
        </p:nvSpPr>
        <p:spPr>
          <a:xfrm>
            <a:off x="11018520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16%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726680" y="5248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823960" y="5294376"/>
            <a:ext cx="300446" cy="182880"/>
          </a:xfrm>
          <a:prstGeom prst="roundRect">
            <a:avLst>
              <a:gd name="adj" fmla="val 10000"/>
            </a:avLst>
          </a:prstGeom>
          <a:solidFill>
            <a:srgbClr val="A8C5B4"/>
          </a:solidFill>
          <a:ln/>
        </p:spPr>
      </p:sp>
      <p:sp>
        <p:nvSpPr>
          <p:cNvPr id="42" name="Text 39"/>
          <p:cNvSpPr/>
          <p:nvPr/>
        </p:nvSpPr>
        <p:spPr>
          <a:xfrm>
            <a:off x="11018520" y="5248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8%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726680" y="56875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투입량 0.15%의 은 정광이 매출 56% — 선물 헤지(생산 50%)·오프테이크로 관리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태양광 패널 재활용  ·  Elevator Pitch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329184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50392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투자 요청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$15M — 마일스톤 연동 3개 트랜치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7223760" cy="914400"/>
          </a:xfrm>
          <a:prstGeom prst="roundRect">
            <a:avLst>
              <a:gd name="adj" fmla="val 7000"/>
            </a:avLst>
          </a:prstGeom>
          <a:solidFill>
            <a:srgbClr val="E4F2E9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73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Tranche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075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$2.0M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14600" y="176479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실행 시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· 인도 법인 설립 · 실사 · 설계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724912"/>
            <a:ext cx="7223760" cy="914400"/>
          </a:xfrm>
          <a:prstGeom prst="roundRect">
            <a:avLst>
              <a:gd name="adj" fmla="val 7000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Tranche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$5.0M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514600" y="2843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성공 (은 회수 ≥97%) + 오프테이크 LOI 2건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부지 · 건축 · 장납기 설비 발주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7223760" cy="914400"/>
          </a:xfrm>
          <a:prstGeom prst="roundRect">
            <a:avLst>
              <a:gd name="adj" fmla="val 7000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Tranche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$8.0M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14600" y="392277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완료 + 수거계약 1호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· 시운전 · 운전자본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01000" y="1645920"/>
            <a:ext cx="3685032" cy="3236976"/>
          </a:xfrm>
          <a:prstGeom prst="roundRect">
            <a:avLst>
              <a:gd name="adj" fmla="val 1977"/>
            </a:avLst>
          </a:prstGeom>
          <a:solidFill>
            <a:srgbClr val="1B4D3E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1847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준비 완료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75320" y="224028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상세설계 24개 장 · 전문가 9팀 검토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M0 파일럿 → M14 착공 → M27 상업운전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20명 소수정예 + 스마트팩토리 운영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정련처 5개 조사 완료 — M3~M9 오프테이크 LOI 목표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핵심공정(⑧~⑩)은 파일럿 검증 후 발주 — 실패 시 대안 경로 설계 반영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5102352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E4F2E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리스크는 단계적으로 해소, 수익은 검증된 구조로  —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정상가동 시 연 EBITDA $8.71M · 5년 누적 FCF +$26.4M (기본 시나리오)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태양광 패널 재활용  ·  Elevator Pitch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937760"/>
            <a:ext cx="1828800" cy="182880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4297680"/>
            <a:ext cx="3108960" cy="310896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566160"/>
            <a:ext cx="4572000" cy="4572000"/>
          </a:xfrm>
          <a:prstGeom prst="ellipse">
            <a:avLst/>
          </a:prstGeom>
          <a:ln w="9525">
            <a:solidFill>
              <a:srgbClr val="589C7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56848" y="566928"/>
            <a:ext cx="146304" cy="146304"/>
          </a:xfrm>
          <a:prstGeom prst="ellipse">
            <a:avLst/>
          </a:prstGeom>
          <a:solidFill>
            <a:srgbClr val="F5B32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4632"/>
            <a:ext cx="42976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521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2344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확정적 시장</a:t>
            </a:r>
            <a:pPr indent="0" marL="0">
              <a:buNone/>
            </a:pPr>
            <a:r>
              <a:rPr lang="en-US" sz="3200" b="1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×  </a:t>
            </a:r>
            <a:pPr indent="0" marL="0">
              <a:buNone/>
            </a:pPr>
            <a:r>
              <a:rPr lang="en-US" sz="32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유일한 흑자 기술</a:t>
            </a:r>
            <a:pPr indent="0" marL="0">
              <a:buNone/>
            </a:pPr>
            <a:r>
              <a:rPr lang="en-US" sz="3200" b="1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×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설계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25880" y="23317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물량은 온다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2030년 c-Si 570kt — 9,000t/년 설비 63기 규모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" y="29809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25880" y="298094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경쟁은 없다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c-Si 상업 처리시설 0개, 기존 기술은 구조적 적자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2960" y="3630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25880" y="36301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 꺼낸다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화학공정 없는 물리선별로 은 회수 98%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2960" y="42793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325880" y="42793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하방이 검증됐다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은값 반토막·바이백 시나리오에도 흑자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2960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325880" y="4928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준비 완료  —  </a:t>
            </a:r>
            <a:pPr indent="0" marL="0">
              <a:buNone/>
            </a:pPr>
            <a:r>
              <a:rPr lang="en-US" sz="15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 24개 장 — 파일럿 즉시 착수 가능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5870448"/>
            <a:ext cx="10515600" cy="0"/>
          </a:xfrm>
          <a:prstGeom prst="line">
            <a:avLst/>
          </a:prstGeom>
          <a:noFill/>
          <a:ln w="12700">
            <a:solidFill>
              <a:srgbClr val="2860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$15M 투자로 함께 만드는 순환경제 — 폐패널이 자원이 되는 인도    </a:t>
            </a:r>
            <a:pPr indent="0" marL="0">
              <a:buNone/>
            </a:pPr>
            <a:r>
              <a:rPr lang="en-US" sz="1300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정명근 Co-founder · jmk4893@dynamicindustry.kr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2026-08-05T13:19:39Z</dcterms:created>
  <dcterms:modified xsi:type="dcterms:W3CDTF">2026-08-05T13:19:39Z</dcterms:modified>
</cp:coreProperties>
</file>