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Profit per ton</c:v>
                </c:pt>
              </c:strCache>
            </c:strRef>
          </c:tx>
          <c:spPr>
            <a:solidFill>
              <a:srgbClr val="C0504D">
                <a:alpha val="100000"/>
              </a:srgbClr>
            </a:solidFill>
            <a:effectLst/>
          </c:spPr>
          <c:invertIfNegative val="0"/>
          <c:dLbls>
            <c:numFmt formatCode="#,##0;-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2D3E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504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504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Mechanical P1
(CEEW)</c:v>
                  </c:pt>
                  <c:pt idx="1">
                    <c:v>Chemical P2
(CEEW)</c:v>
                  </c:pt>
                  <c:pt idx="2">
                    <c:v>Dynamic
Industry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-10230</c:v>
                </c:pt>
                <c:pt idx="1">
                  <c:v>-12341</c:v>
                </c:pt>
                <c:pt idx="2">
                  <c:v>84200</c:v>
                </c:pt>
              </c:numCache>
            </c:numRef>
          </c:val>
        </c:ser>
        <c:dLbls>
          <c:numFmt formatCode="#,##0;-#,##0" sourceLinked="0"/>
          <c:txPr>
            <a:bodyPr/>
            <a:lstStyle/>
            <a:p>
              <a:pPr>
                <a:defRPr b="1" i="0" strike="noStrike" sz="1100" u="none">
                  <a:solidFill>
                    <a:srgbClr val="2D3E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84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00"/>
          <c:min val="-25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2600" y="182880"/>
            <a:ext cx="2103120" cy="210312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32520" y="-457200"/>
            <a:ext cx="3383280" cy="338328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1143000"/>
            <a:ext cx="4754880" cy="475488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10928" y="502920"/>
            <a:ext cx="146304" cy="146304"/>
          </a:xfrm>
          <a:prstGeom prst="ellipse">
            <a:avLst/>
          </a:prstGeom>
          <a:solidFill>
            <a:srgbClr val="F5B32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76656"/>
            <a:ext cx="713232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7132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INDUSTRY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45920" y="11064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589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RECYCLING · INDIA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77240" y="22402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panels aren't trash —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high-grade silver ore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77240" y="41605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recycling in India — chemical-free physical separation recovers 98% of the silver,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the only profitable equation in a market where everyone loses money.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77240" y="525780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28604C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534924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570 kt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68680" y="583387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c-Si waste panels, 2030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538728" y="525780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28604C"/>
          </a:solidFill>
          <a:ln/>
        </p:spPr>
      </p:sp>
      <p:sp>
        <p:nvSpPr>
          <p:cNvPr id="15" name="Text 12"/>
          <p:cNvSpPr/>
          <p:nvPr/>
        </p:nvSpPr>
        <p:spPr>
          <a:xfrm>
            <a:off x="3630168" y="534924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3630168" y="583387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competing plants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300216" y="525780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28604C"/>
          </a:solidFill>
          <a:ln/>
        </p:spPr>
      </p:sp>
      <p:sp>
        <p:nvSpPr>
          <p:cNvPr id="18" name="Text 15"/>
          <p:cNvSpPr/>
          <p:nvPr/>
        </p:nvSpPr>
        <p:spPr>
          <a:xfrm>
            <a:off x="6391656" y="534924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6391656" y="583387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recovery · zero chemicals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061704" y="525780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28604C"/>
          </a:solidFill>
          <a:ln/>
        </p:spPr>
      </p:sp>
      <p:sp>
        <p:nvSpPr>
          <p:cNvPr id="21" name="Text 18"/>
          <p:cNvSpPr/>
          <p:nvPr/>
        </p:nvSpPr>
        <p:spPr>
          <a:xfrm>
            <a:off x="9153144" y="534924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yrs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9153144" y="583387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payback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9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Jason Jeong, Co-founder   ·   Aug 2026   ·   For investment review only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28600"/>
            <a:ext cx="329184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INDUSTRY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8046720" y="2926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MARKET &amp; PROBLEM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is piling up — with nowhere to process it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3648456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1764792"/>
            <a:ext cx="3374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570 kt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0080" y="2501798"/>
            <a:ext cx="3374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c-Si waste panels by 2030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(63 plants at 9,000 t/yr each)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70248" y="1600200"/>
            <a:ext cx="3648456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407408" y="1764792"/>
            <a:ext cx="3374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407408" y="2501798"/>
            <a:ext cx="3374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c-Si facilities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is wide open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37576" y="1600200"/>
            <a:ext cx="3648456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174736" y="1764792"/>
            <a:ext cx="3374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-₹10,230/t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8174736" y="2501798"/>
            <a:ext cx="3374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per-ton loss of existing mechanical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recycling (CEEW 2025, measured)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3474720"/>
            <a:ext cx="6766560" cy="2606040"/>
          </a:xfrm>
          <a:prstGeom prst="roundRect">
            <a:avLst>
              <a:gd name="adj" fmla="val 2456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7240" y="367588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everyone loses money — anatomy of the deficit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22960" y="4215384"/>
            <a:ext cx="109728" cy="109728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18" name="Text 15"/>
          <p:cNvSpPr/>
          <p:nvPr/>
        </p:nvSpPr>
        <p:spPr>
          <a:xfrm>
            <a:off x="1097280" y="4133088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silver recovery  —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lines discard half the module's value, selling only glass &amp; aluminum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22960" y="4855464"/>
            <a:ext cx="109728" cy="10972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0" name="Text 17"/>
          <p:cNvSpPr/>
          <p:nvPr/>
        </p:nvSpPr>
        <p:spPr>
          <a:xfrm>
            <a:off x="1097280" y="4773168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 of cost is reverse logistics  —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buy-back 68% + collection &amp; transport 11% (CEEW P1)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5495544"/>
            <a:ext cx="109728" cy="10972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2" name="Text 19"/>
          <p:cNvSpPr/>
          <p:nvPr/>
        </p:nvSpPr>
        <p:spPr>
          <a:xfrm>
            <a:off x="1097280" y="5413248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is feedstock economics  —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processing tech — without the silver, losses are inevitable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52360" y="3474720"/>
            <a:ext cx="4233672" cy="2606040"/>
          </a:xfrm>
          <a:prstGeom prst="roundRect">
            <a:avLst>
              <a:gd name="adj" fmla="val 2456"/>
            </a:avLst>
          </a:prstGeom>
          <a:solidFill>
            <a:srgbClr val="E4F2E9"/>
          </a:solidFill>
          <a:ln/>
        </p:spPr>
      </p:sp>
      <p:sp>
        <p:nvSpPr>
          <p:cNvPr id="24" name="Text 21"/>
          <p:cNvSpPr/>
          <p:nvPr/>
        </p:nvSpPr>
        <p:spPr>
          <a:xfrm>
            <a:off x="7726680" y="367588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this ‘waste’ carries silver at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726680" y="4069080"/>
            <a:ext cx="3703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3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300–500 ppm</a:t>
            </a:r>
            <a:pPr indent="0" marL="0">
              <a:lnSpc>
                <a:spcPts val="2100"/>
              </a:lnSpc>
              <a:buNone/>
            </a:pPr>
            <a:endParaRPr lang="en-US" sz="30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2–5× the cut-off grade of primary silver mines (100–150 ppm). An ore that needs no mining is piling up on the surface — ~$1,000 of contained silver per ton.</a:t>
            </a:r>
            <a:endParaRPr lang="en-US" sz="3000" dirty="0"/>
          </a:p>
        </p:txBody>
      </p:sp>
      <p:sp>
        <p:nvSpPr>
          <p:cNvPr id="26" name="Text 23"/>
          <p:cNvSpPr/>
          <p:nvPr/>
        </p:nvSpPr>
        <p:spPr>
          <a:xfrm>
            <a:off x="502920" y="645566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Recycling in India  ·  Elevator Pitch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4757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28600"/>
            <a:ext cx="329184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INDUSTRY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8046720" y="2926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 silver recovery, zero chemicals — the economics flip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5120640" cy="3291840"/>
          </a:xfrm>
          <a:prstGeom prst="roundRect">
            <a:avLst>
              <a:gd name="adj" fmla="val 1944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recovery vs. mechanical incumbents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22128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(Ag)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057400" y="2221992"/>
            <a:ext cx="2643530" cy="219456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0" name="Text 7"/>
          <p:cNvSpPr/>
          <p:nvPr/>
        </p:nvSpPr>
        <p:spPr>
          <a:xfrm>
            <a:off x="4800600" y="219456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057400" y="248716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C9D6CE"/>
          </a:solidFill>
          <a:ln/>
        </p:spPr>
      </p:sp>
      <p:sp>
        <p:nvSpPr>
          <p:cNvPr id="12" name="Text 9"/>
          <p:cNvSpPr/>
          <p:nvPr/>
        </p:nvSpPr>
        <p:spPr>
          <a:xfrm>
            <a:off x="4800600" y="243230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77240" y="2834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 (Cu)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2057400" y="2843784"/>
            <a:ext cx="2654320" cy="219456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5" name="Text 12"/>
          <p:cNvSpPr/>
          <p:nvPr/>
        </p:nvSpPr>
        <p:spPr>
          <a:xfrm>
            <a:off x="4800600" y="28163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98.4%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057400" y="3108960"/>
            <a:ext cx="2562606" cy="128016"/>
          </a:xfrm>
          <a:prstGeom prst="roundRect">
            <a:avLst>
              <a:gd name="adj" fmla="val 14286"/>
            </a:avLst>
          </a:prstGeom>
          <a:solidFill>
            <a:srgbClr val="C9D6CE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3054096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77240" y="34564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057400" y="3465576"/>
            <a:ext cx="2678598" cy="219456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20" name="Text 17"/>
          <p:cNvSpPr/>
          <p:nvPr/>
        </p:nvSpPr>
        <p:spPr>
          <a:xfrm>
            <a:off x="4800600" y="343814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99.3%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057400" y="3730752"/>
            <a:ext cx="2400757" cy="128016"/>
          </a:xfrm>
          <a:prstGeom prst="roundRect">
            <a:avLst>
              <a:gd name="adj" fmla="val 14286"/>
            </a:avLst>
          </a:prstGeom>
          <a:solidFill>
            <a:srgbClr val="C9D6CE"/>
          </a:solidFill>
          <a:ln/>
        </p:spPr>
      </p:sp>
      <p:sp>
        <p:nvSpPr>
          <p:cNvPr id="22" name="Text 19"/>
          <p:cNvSpPr/>
          <p:nvPr/>
        </p:nvSpPr>
        <p:spPr>
          <a:xfrm>
            <a:off x="4800600" y="367588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77240" y="407822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Aluminum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2057400" y="4087368"/>
            <a:ext cx="2686690" cy="219456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405993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057400" y="4352544"/>
            <a:ext cx="2670505" cy="128016"/>
          </a:xfrm>
          <a:prstGeom prst="roundRect">
            <a:avLst>
              <a:gd name="adj" fmla="val 14286"/>
            </a:avLst>
          </a:prstGeom>
          <a:solidFill>
            <a:srgbClr val="C9D6CE"/>
          </a:solidFill>
          <a:ln/>
        </p:spPr>
      </p:sp>
      <p:sp>
        <p:nvSpPr>
          <p:cNvPr id="27" name="Text 24"/>
          <p:cNvSpPr/>
          <p:nvPr/>
        </p:nvSpPr>
        <p:spPr>
          <a:xfrm>
            <a:off x="4800600" y="429768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897880" y="1600200"/>
            <a:ext cx="5788152" cy="3291840"/>
          </a:xfrm>
          <a:prstGeom prst="roundRect">
            <a:avLst>
              <a:gd name="adj" fmla="val 1944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7220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ton (₹/t) — the only one in the black</a:t>
            </a:r>
            <a:endParaRPr lang="en-US" sz="13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6126480" y="2148840"/>
          <a:ext cx="53492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Shape 27"/>
          <p:cNvSpPr/>
          <p:nvPr/>
        </p:nvSpPr>
        <p:spPr>
          <a:xfrm>
            <a:off x="502920" y="5120640"/>
            <a:ext cx="11183112" cy="1005840"/>
          </a:xfrm>
          <a:prstGeom prst="roundRect">
            <a:avLst>
              <a:gd name="adj" fmla="val 6364"/>
            </a:avLst>
          </a:prstGeom>
          <a:solidFill>
            <a:srgbClr val="1B4D3E"/>
          </a:solidFill>
          <a:ln/>
        </p:spPr>
      </p:sp>
      <p:sp>
        <p:nvSpPr>
          <p:cNvPr id="32" name="Text 28"/>
          <p:cNvSpPr/>
          <p:nvPr/>
        </p:nvSpPr>
        <p:spPr>
          <a:xfrm>
            <a:off x="822960" y="5230368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10-stage physical separation line — wet attrition + REFLUX™ gravity separation + flotation yields 26.7% silver concentrate. </a:t>
            </a:r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chemicals, zero chemical effluent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95%+ material valorization (24-chapter Korean detailed design · reviewed by 9 expert teams)</a:t>
            </a:r>
            <a:endParaRPr lang="en-US" sz="1250" dirty="0"/>
          </a:p>
        </p:txBody>
      </p:sp>
      <p:sp>
        <p:nvSpPr>
          <p:cNvPr id="33" name="Text 29"/>
          <p:cNvSpPr/>
          <p:nvPr/>
        </p:nvSpPr>
        <p:spPr>
          <a:xfrm>
            <a:off x="502920" y="645566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Recycling in India  ·  Elevator Pitch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114757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28600"/>
            <a:ext cx="329184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INDUSTRY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8046720" y="2926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ECONOMICS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$8.71M without gate fees — downside verified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269748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1764792"/>
            <a:ext cx="24231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$12.25M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0080" y="247528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CAPEX — 12% below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Korean design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28416" y="1600200"/>
            <a:ext cx="269748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465576" y="1764792"/>
            <a:ext cx="24231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$8.71M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3465576" y="247528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EBITDA · 84% margin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at 60% of Korea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53912" y="1600200"/>
            <a:ext cx="269748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291072" y="1764792"/>
            <a:ext cx="24231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yrs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291072" y="247528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payback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(BEP ~2.0 yrs after start-up)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979408" y="1600200"/>
            <a:ext cx="270662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CE8E0"/>
            </a:solidFill>
            <a:prstDash val="solid"/>
          </a:ln>
          <a:effectLst>
            <a:outerShdw sx="100000" sy="100000" kx="0" ky="0" algn="bl" rotWithShape="0" blurRad="76200" dist="25400" dir="5400000">
              <a:srgbClr val="1B4D3E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116568" y="1764792"/>
            <a:ext cx="24323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+$26.4M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9116568" y="2475281"/>
            <a:ext cx="2432304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5-yr cumulative FCF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(base case)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3429000"/>
            <a:ext cx="6766560" cy="2651760"/>
          </a:xfrm>
          <a:prstGeom prst="roundRect">
            <a:avLst>
              <a:gd name="adj" fmla="val 2414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7240" y="36118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verified — profitable under any assumption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4069080"/>
            <a:ext cx="274320" cy="274320"/>
          </a:xfrm>
          <a:prstGeom prst="ellipse">
            <a:avLst/>
          </a:prstGeom>
          <a:solidFill>
            <a:srgbClr val="E4F2E9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34440" y="4041648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halved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$59.8 → $30/oz: all 3 scenarios stay profitable (B: $8.71M → $5.8M)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22960" y="4727448"/>
            <a:ext cx="274320" cy="274320"/>
          </a:xfrm>
          <a:prstGeom prst="ellipse">
            <a:avLst/>
          </a:prstGeom>
          <a:solidFill>
            <a:srgbClr val="E4F2E9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" y="4727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34440" y="4700016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Worst-case feedstock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profitable even paying to buy back panels (C) — 2.1-yr payback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22960" y="5385816"/>
            <a:ext cx="274320" cy="274320"/>
          </a:xfrm>
          <a:prstGeom prst="ellipse">
            <a:avLst/>
          </a:prstGeom>
          <a:solidFill>
            <a:srgbClr val="E4F2E9"/>
          </a:solidFill>
          <a:ln/>
        </p:spPr>
      </p:sp>
      <p:sp>
        <p:nvSpPr>
          <p:cNvPr id="27" name="Text 24"/>
          <p:cNvSpPr/>
          <p:nvPr/>
        </p:nvSpPr>
        <p:spPr>
          <a:xfrm>
            <a:off x="822960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234440" y="5358384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principle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booked for EPR, gate fees, subsidies — regulation is pure upside (+$0.9–6.1M)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452360" y="3429000"/>
            <a:ext cx="4233672" cy="2651760"/>
          </a:xfrm>
          <a:prstGeom prst="roundRect">
            <a:avLst>
              <a:gd name="adj" fmla="val 2414"/>
            </a:avLst>
          </a:prstGeom>
          <a:solidFill>
            <a:srgbClr val="E4F2E9"/>
          </a:solidFill>
          <a:ln/>
        </p:spPr>
      </p:sp>
      <p:sp>
        <p:nvSpPr>
          <p:cNvPr id="30" name="Text 27"/>
          <p:cNvSpPr/>
          <p:nvPr/>
        </p:nvSpPr>
        <p:spPr>
          <a:xfrm>
            <a:off x="7726680" y="36118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mix — $10.41M annual sales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7726680" y="40416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conc.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869680" y="4087368"/>
            <a:ext cx="2057400" cy="182880"/>
          </a:xfrm>
          <a:prstGeom prst="roundRect">
            <a:avLst>
              <a:gd name="adj" fmla="val 10000"/>
            </a:avLst>
          </a:prstGeom>
          <a:solidFill>
            <a:srgbClr val="F5B325"/>
          </a:solidFill>
          <a:ln/>
        </p:spPr>
      </p:sp>
      <p:sp>
        <p:nvSpPr>
          <p:cNvPr id="33" name="Text 30"/>
          <p:cNvSpPr/>
          <p:nvPr/>
        </p:nvSpPr>
        <p:spPr>
          <a:xfrm>
            <a:off x="11018520" y="4041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7726680" y="44439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Aluminum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869680" y="4489704"/>
            <a:ext cx="734786" cy="182880"/>
          </a:xfrm>
          <a:prstGeom prst="roundRect">
            <a:avLst>
              <a:gd name="adj" fmla="val 10000"/>
            </a:avLst>
          </a:prstGeom>
          <a:solidFill>
            <a:srgbClr val="2E8B57"/>
          </a:solidFill>
          <a:ln/>
        </p:spPr>
      </p:sp>
      <p:sp>
        <p:nvSpPr>
          <p:cNvPr id="36" name="Text 33"/>
          <p:cNvSpPr/>
          <p:nvPr/>
        </p:nvSpPr>
        <p:spPr>
          <a:xfrm>
            <a:off x="11018520" y="44439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772668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869680" y="4892040"/>
            <a:ext cx="587829" cy="182880"/>
          </a:xfrm>
          <a:prstGeom prst="roundRect">
            <a:avLst>
              <a:gd name="adj" fmla="val 10000"/>
            </a:avLst>
          </a:prstGeom>
          <a:solidFill>
            <a:srgbClr val="589C78"/>
          </a:solidFill>
          <a:ln/>
        </p:spPr>
      </p:sp>
      <p:sp>
        <p:nvSpPr>
          <p:cNvPr id="39" name="Text 36"/>
          <p:cNvSpPr/>
          <p:nvPr/>
        </p:nvSpPr>
        <p:spPr>
          <a:xfrm>
            <a:off x="11018520" y="4846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7726680" y="52486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8869680" y="5294376"/>
            <a:ext cx="293914" cy="182880"/>
          </a:xfrm>
          <a:prstGeom prst="roundRect">
            <a:avLst>
              <a:gd name="adj" fmla="val 10000"/>
            </a:avLst>
          </a:prstGeom>
          <a:solidFill>
            <a:srgbClr val="A8C5B4"/>
          </a:solidFill>
          <a:ln/>
        </p:spPr>
      </p:sp>
      <p:sp>
        <p:nvSpPr>
          <p:cNvPr id="42" name="Text 39"/>
          <p:cNvSpPr/>
          <p:nvPr/>
        </p:nvSpPr>
        <p:spPr>
          <a:xfrm>
            <a:off x="11018520" y="52486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7726680" y="568756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0.15% of input mass = 56% of revenue — managed via futures hedge (50% of output) &amp; offtake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502920" y="645566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Recycling in India  ·  Elevator Pitch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114757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28600"/>
            <a:ext cx="329184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INDUSTRY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8046720" y="2926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THE ASK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 — three milestone-linked tranches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2920" y="1645920"/>
            <a:ext cx="7223760" cy="914400"/>
          </a:xfrm>
          <a:prstGeom prst="roundRect">
            <a:avLst>
              <a:gd name="adj" fmla="val 7000"/>
            </a:avLst>
          </a:prstGeom>
          <a:solidFill>
            <a:srgbClr val="E4F2E9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77393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 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207568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$2.0M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2514600" y="176479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closing
</a:t>
            </a:r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· India entity · due diligence · design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02920" y="2724912"/>
            <a:ext cx="7223760" cy="914400"/>
          </a:xfrm>
          <a:prstGeom prst="roundRect">
            <a:avLst>
              <a:gd name="adj" fmla="val 7000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8529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 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77240" y="31546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$5.0M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2514600" y="2843784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success (Ag recovery ≥97%) + 2 offtake LOIs
</a:t>
            </a:r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· construction · long-lead equipment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920" y="3803904"/>
            <a:ext cx="7223760" cy="914400"/>
          </a:xfrm>
          <a:prstGeom prst="roundRect">
            <a:avLst>
              <a:gd name="adj" fmla="val 7000"/>
            </a:avLst>
          </a:prstGeom>
          <a:solidFill>
            <a:srgbClr val="F7FBF8"/>
          </a:solidFill>
          <a:ln w="12700">
            <a:solidFill>
              <a:srgbClr val="DCE8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 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7240" y="42336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$8.0M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2514600" y="392277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Permits complete + first collection contract
</a:t>
            </a:r>
            <a:pPr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· commissioning · working capital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01000" y="1645920"/>
            <a:ext cx="3685032" cy="3236976"/>
          </a:xfrm>
          <a:prstGeom prst="roundRect">
            <a:avLst>
              <a:gd name="adj" fmla="val 1977"/>
            </a:avLst>
          </a:prstGeom>
          <a:solidFill>
            <a:srgbClr val="1B4D3E"/>
          </a:solidFill>
          <a:ln/>
        </p:spPr>
      </p:sp>
      <p:sp>
        <p:nvSpPr>
          <p:cNvPr id="19" name="Text 16"/>
          <p:cNvSpPr/>
          <p:nvPr/>
        </p:nvSpPr>
        <p:spPr>
          <a:xfrm>
            <a:off x="8275320" y="184708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execute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275320" y="2240280"/>
            <a:ext cx="3154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24-chapter Korean detailed design, 9 expert-team review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pilot → M14 build → M27 commercial operation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20-person lean team + smart factory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refiners surveyed — offtake LOIs by M3–M9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stages ordered after pilot — fallback designed in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02920" y="5102352"/>
            <a:ext cx="11183112" cy="960120"/>
          </a:xfrm>
          <a:prstGeom prst="roundRect">
            <a:avLst>
              <a:gd name="adj" fmla="val 6667"/>
            </a:avLst>
          </a:prstGeom>
          <a:solidFill>
            <a:srgbClr val="E4F2E9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retired in stages, returns on a verified structure  — 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D3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full operation: $8.71M annual EBITDA · +$26.4M 5-yr cumulative FCF (base case)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502920" y="645566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Recycling in India  ·  Elevator Pitch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4757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4937760"/>
            <a:ext cx="1828800" cy="182880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365760" y="4297680"/>
            <a:ext cx="3108960" cy="310896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3566160"/>
            <a:ext cx="4572000" cy="4572000"/>
          </a:xfrm>
          <a:prstGeom prst="ellipse">
            <a:avLst/>
          </a:prstGeom>
          <a:ln w="9525">
            <a:solidFill>
              <a:srgbClr val="589C78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566928"/>
            <a:ext cx="146304" cy="146304"/>
          </a:xfrm>
          <a:prstGeom prst="ellipse">
            <a:avLst/>
          </a:prstGeom>
          <a:solidFill>
            <a:srgbClr val="F5B32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84632"/>
            <a:ext cx="42976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44168" y="521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INDUSTRY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12344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 market</a:t>
            </a:r>
            <a:pPr indent="0" marL="0">
              <a:buNone/>
            </a:pPr>
            <a:r>
              <a:rPr lang="en-US" sz="2600" b="1" dirty="0">
                <a:solidFill>
                  <a:srgbClr val="589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</a:t>
            </a:r>
            <a:pPr indent="0" marL="0">
              <a:buNone/>
            </a:pPr>
            <a:r>
              <a:rPr lang="en-US" sz="26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profitable tech</a:t>
            </a:r>
            <a:pPr indent="0" marL="0">
              <a:buNone/>
            </a:pPr>
            <a:r>
              <a:rPr lang="en-US" sz="2600" b="1" dirty="0">
                <a:solidFill>
                  <a:srgbClr val="589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design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233172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325880" y="23317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is coming  —  </a:t>
            </a:r>
            <a:pPr indent="0" marL="0">
              <a:buNone/>
            </a:pPr>
            <a:r>
              <a:rPr lang="en-US" sz="15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570 kt of c-Si by 2030 — enough for 63 plants at 9,000 t/yr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22960" y="2980944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325880" y="298094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competition  —  </a:t>
            </a:r>
            <a:pPr indent="0" marL="0">
              <a:buNone/>
            </a:pPr>
            <a:r>
              <a:rPr lang="en-US" sz="15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commercial c-Si facilities; incumbents lose money structurally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822960" y="363016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1325880" y="363016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we extract the silver  —  </a:t>
            </a:r>
            <a:pPr indent="0" marL="0">
              <a:buNone/>
            </a:pPr>
            <a:r>
              <a:rPr lang="en-US" sz="15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 recovery via chemical-free physical separation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22960" y="427939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1325880" y="42793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downside is verified  —  </a:t>
            </a:r>
            <a:pPr indent="0" marL="0">
              <a:buNone/>
            </a:pPr>
            <a:r>
              <a:rPr lang="en-US" sz="15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profitable even with silver halved or panel buy-back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822960" y="492861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1325880" y="4928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execute  —  </a:t>
            </a:r>
            <a:pPr indent="0" marL="0">
              <a:buNone/>
            </a:pPr>
            <a:r>
              <a:rPr lang="en-US" sz="155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24-chapter detailed design — pilot can start immediately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822960" y="5870448"/>
            <a:ext cx="10515600" cy="0"/>
          </a:xfrm>
          <a:prstGeom prst="line">
            <a:avLst/>
          </a:prstGeom>
          <a:noFill/>
          <a:ln w="12700">
            <a:solidFill>
              <a:srgbClr val="28604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603504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 to make waste panels a resource — India's circular economy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132320" y="6035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89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Jason Jeong, Co-founder · jmk4893@dynamicindustry.kr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2026-08-05T13:21:25Z</dcterms:created>
  <dcterms:modified xsi:type="dcterms:W3CDTF">2026-08-05T13:21:25Z</dcterms:modified>
</cp:coreProperties>
</file>