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per ton</c:v>
                </c:pt>
              </c:strCache>
            </c:strRef>
          </c:tx>
          <c:spPr>
            <a:solidFill>
              <a:srgbClr val="C0504D">
                <a:alpha val="100000"/>
              </a:srgbClr>
            </a:solidFill>
            <a:effectLst/>
          </c:spPr>
          <c:invertIfNegative val="0"/>
          <c:dLbls>
            <c:numFmt formatCode="#,##0;-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D3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Mechanical P1
(CEEW)</c:v>
                  </c:pt>
                  <c:pt idx="1">
                    <c:v>Chemical P2
(CEEW)</c:v>
                  </c:pt>
                  <c:pt idx="2">
                    <c:v>Dynamic
Industry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-10230</c:v>
                </c:pt>
                <c:pt idx="1">
                  <c:v>-12341</c:v>
                </c:pt>
                <c:pt idx="2">
                  <c:v>84200</c:v>
                </c:pt>
              </c:numCache>
            </c:numRef>
          </c:val>
        </c:ser>
        <c:dLbls>
          <c:numFmt formatCode="#,##0;-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D3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00"/>
          <c:min val="-25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182880"/>
            <a:ext cx="2103120" cy="210312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-457200"/>
            <a:ext cx="3383280" cy="338328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143000"/>
            <a:ext cx="4754880" cy="475488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0928" y="502920"/>
            <a:ext cx="146304" cy="146304"/>
          </a:xfrm>
          <a:prstGeom prst="ellipse">
            <a:avLst/>
          </a:prstGeom>
          <a:solidFill>
            <a:srgbClr val="F5B32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· INDIA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panels aren't trash —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silver ore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— chemical-free physical separation recovers 98% of the silver,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only profitable equation in a market where everyone loses money.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kt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c-Si waste panels, 2030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38728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30168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competing plants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0216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91656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recovery · zero chemicals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61704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yrs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53144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payback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Myung-geun Jung, Co-founder   ·   Aug 2026   ·   For investment review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MARKET &amp;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piling up — with nowhere to process 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kt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c-Si waste panels by 2030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 plants at 9,000 t/yr each)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07408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07408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c-Si facilities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wide open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7576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74736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-₹10,230/t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74736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per-ton loss of existing mechanical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(CEEW 2025, measured)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6766560" cy="2606040"/>
          </a:xfrm>
          <a:prstGeom prst="roundRect">
            <a:avLst>
              <a:gd name="adj" fmla="val 2456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758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everyone loses money — anatomy of the deficit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3308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silver recovery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lines discard half the module's value, selling only glass &amp; aluminum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85546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7316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cost is reverse logistics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buy-back 68% + collection &amp; transport 11% (CEEW P1)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49554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4132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feedstock economics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processing tech — without the silver, losses are inevitable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3474720"/>
            <a:ext cx="4233672" cy="2606040"/>
          </a:xfrm>
          <a:prstGeom prst="roundRect">
            <a:avLst>
              <a:gd name="adj" fmla="val 2456"/>
            </a:avLst>
          </a:prstGeom>
          <a:solidFill>
            <a:srgbClr val="E4F2E9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3675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this ‘waste’ carries silver 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4069080"/>
            <a:ext cx="3703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ppm</a:t>
            </a:r>
            <a:pPr indent="0" marL="0">
              <a:lnSpc>
                <a:spcPts val="2100"/>
              </a:lnSpc>
              <a:buNone/>
            </a:pPr>
            <a:endParaRPr lang="en-US" sz="30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2–5× the cut-off grade of primary silver mines (100–150 ppm). An ore that needs no mining is piling up on the surface — ~$1,000 of contained silver per ton.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 ·  Elevator Pitch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silver recovery, zero chemicals — the economics flip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120640" cy="3291840"/>
          </a:xfrm>
          <a:prstGeom prst="roundRect">
            <a:avLst>
              <a:gd name="adj" fmla="val 194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recovery vs. mechanical incumbents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(Ag)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57400" y="2221992"/>
            <a:ext cx="2643530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194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48716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C9D6C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4323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(Cu)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2843784"/>
            <a:ext cx="2654320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8163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3108960"/>
            <a:ext cx="2562606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0540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3465576"/>
            <a:ext cx="2678598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3730752"/>
            <a:ext cx="2400757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078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57400" y="4087368"/>
            <a:ext cx="2686690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0599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57400" y="4352544"/>
            <a:ext cx="2670505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2976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97880" y="1600200"/>
            <a:ext cx="5788152" cy="3291840"/>
          </a:xfrm>
          <a:prstGeom prst="roundRect">
            <a:avLst>
              <a:gd name="adj" fmla="val 194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ton (₹/t) — the only one in the black</a:t>
            </a:r>
            <a:endParaRPr lang="en-US" sz="13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126480" y="2148840"/>
          <a:ext cx="5349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02920" y="5120640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1B4D3E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5230368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10-stage physical separation line — wet attrition + REFLUX™ gravity separation + flotation yields 26.7% silver concentrate.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chemicals, zero chemical effluent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95%+ material valorization (24-chapter Korean detailed design · reviewed by 9 expert teams)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 ·  Elevator Pitch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$8.71M without gate fees — downside verified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$12.25M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 — 12% below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Korean design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8416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$8.71M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65576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EBITDA · 84% margin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at 60% of Korea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yrs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1072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payback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(BEP ~2.0 yrs after start-up)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9408" y="1600200"/>
            <a:ext cx="270662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16568" y="1764792"/>
            <a:ext cx="24323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+$26.4M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16568" y="2475281"/>
            <a:ext cx="243230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FCF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case)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6766560" cy="2651760"/>
          </a:xfrm>
          <a:prstGeom prst="roundRect">
            <a:avLst>
              <a:gd name="adj" fmla="val 241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11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verified — profitable under any assumption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069080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041648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halved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 → $30/oz: all 3 scenarios stay profitable (B: $8.71M → $5.8M)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727448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70001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feedstock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even paying to buy back panels (C) — 2.1-yr payback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385816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35838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principle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booked for EPR, gate fees, subsidies — regulation is pure upside (+$0.9–6.1M)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52360" y="3429000"/>
            <a:ext cx="4233672" cy="2651760"/>
          </a:xfrm>
          <a:prstGeom prst="roundRect">
            <a:avLst>
              <a:gd name="adj" fmla="val 2414"/>
            </a:avLst>
          </a:prstGeom>
          <a:solidFill>
            <a:srgbClr val="E4F2E9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3611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— $10.41M annual sales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72668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conc.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4087368"/>
            <a:ext cx="2057400" cy="182880"/>
          </a:xfrm>
          <a:prstGeom prst="roundRect">
            <a:avLst>
              <a:gd name="adj" fmla="val 10000"/>
            </a:avLst>
          </a:prstGeom>
          <a:solidFill>
            <a:srgbClr val="F5B325"/>
          </a:solidFill>
          <a:ln/>
        </p:spPr>
      </p:sp>
      <p:sp>
        <p:nvSpPr>
          <p:cNvPr id="32" name="Text 30"/>
          <p:cNvSpPr/>
          <p:nvPr/>
        </p:nvSpPr>
        <p:spPr>
          <a:xfrm>
            <a:off x="1101852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26680" y="4443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4489704"/>
            <a:ext cx="734786" cy="18288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35" name="Text 33"/>
          <p:cNvSpPr/>
          <p:nvPr/>
        </p:nvSpPr>
        <p:spPr>
          <a:xfrm>
            <a:off x="11018520" y="4443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266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69680" y="4892040"/>
            <a:ext cx="587829" cy="182880"/>
          </a:xfrm>
          <a:prstGeom prst="roundRect">
            <a:avLst>
              <a:gd name="adj" fmla="val 10000"/>
            </a:avLst>
          </a:prstGeom>
          <a:solidFill>
            <a:srgbClr val="589C78"/>
          </a:solidFill>
          <a:ln/>
        </p:spPr>
      </p:sp>
      <p:sp>
        <p:nvSpPr>
          <p:cNvPr id="38" name="Text 36"/>
          <p:cNvSpPr/>
          <p:nvPr/>
        </p:nvSpPr>
        <p:spPr>
          <a:xfrm>
            <a:off x="11018520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26680" y="5248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69680" y="5294376"/>
            <a:ext cx="293914" cy="182880"/>
          </a:xfrm>
          <a:prstGeom prst="roundRect">
            <a:avLst>
              <a:gd name="adj" fmla="val 10000"/>
            </a:avLst>
          </a:prstGeom>
          <a:solidFill>
            <a:srgbClr val="A8C5B4"/>
          </a:solidFill>
          <a:ln/>
        </p:spPr>
      </p:sp>
      <p:sp>
        <p:nvSpPr>
          <p:cNvPr id="41" name="Text 39"/>
          <p:cNvSpPr/>
          <p:nvPr/>
        </p:nvSpPr>
        <p:spPr>
          <a:xfrm>
            <a:off x="11018520" y="5248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26680" y="56875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0.15% of input mass = 56% of revenue — managed via futures hedge (50% of output) &amp; offtake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 ·  Elevator Pitch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— three milestone-linked tranches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E4F2E9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14600" y="176479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closing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India entity · due diligence · design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2843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(Ag recovery ≥97%) + 2 offtake LOIs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· construction · long-lead equipment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392277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complete + first collection contract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· commissioning · working capital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1645920"/>
            <a:ext cx="3685032" cy="3236976"/>
          </a:xfrm>
          <a:prstGeom prst="roundRect">
            <a:avLst>
              <a:gd name="adj" fmla="val 1977"/>
            </a:avLst>
          </a:prstGeom>
          <a:solidFill>
            <a:srgbClr val="1B4D3E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24028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24-chapter Korean detailed design, 9 expert-team review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pilot → M14 build → M27 commercial operation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20-person lean team + smart factory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refiners surveyed — offtake LOIs by M3–M9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stages ordered after pilot — fallback designed 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102352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E4F2E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retired in stages, returns on a verified structure  —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full operation: $8.71M annual EBITDA · +$26.4M 5-yr cumulative FCF (base case)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 ·  Elevator Pitch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937760"/>
            <a:ext cx="1828800" cy="182880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4297680"/>
            <a:ext cx="3108960" cy="310896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566160"/>
            <a:ext cx="4572000" cy="457200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56848" y="566928"/>
            <a:ext cx="146304" cy="146304"/>
          </a:xfrm>
          <a:prstGeom prst="ellipse">
            <a:avLst/>
          </a:prstGeom>
          <a:solidFill>
            <a:srgbClr val="F5B32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market</a:t>
            </a:r>
            <a:pPr indent="0" marL="0">
              <a:buNone/>
            </a:pPr>
            <a:r>
              <a:rPr lang="en-US" sz="2600" b="1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buNone/>
            </a:pPr>
            <a:r>
              <a:rPr lang="en-US" sz="26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profitable tech</a:t>
            </a:r>
            <a:pPr indent="0" marL="0">
              <a:buNone/>
            </a:pPr>
            <a:r>
              <a:rPr lang="en-US" sz="2600" b="1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design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coming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kt of c-Si by 2030 — enough for 63 plants at 9,000 t/yr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2980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98094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competition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commercial c-Si facilities; incumbents lose money structurally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6301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 extract the silver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recovery via chemical-free physical separation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2960" y="42793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2793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is verified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even with silver halved or panel buy-back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928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24-chapter detailed design — pilot can start immediately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870448"/>
            <a:ext cx="10515600" cy="0"/>
          </a:xfrm>
          <a:prstGeom prst="line">
            <a:avLst/>
          </a:prstGeom>
          <a:noFill/>
          <a:ln w="12700">
            <a:solidFill>
              <a:srgbClr val="2860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035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to make waste panels a resource — India's circular economy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6035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Myung-geun Jung, Co-founder · jmk4893@dynamicindustry.kr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2026-08-05T12:58:14Z</dcterms:created>
  <dcterms:modified xsi:type="dcterms:W3CDTF">2026-08-05T12:58:14Z</dcterms:modified>
</cp:coreProperties>
</file>