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INDUSTRY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11480" y="3840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태양광 패널 재활용 — 폐모듈을 </a:t>
            </a:r>
            <a:pPr indent="0" marL="0">
              <a:buNone/>
            </a:pPr>
            <a:r>
              <a:rPr lang="en-US" sz="21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고품위 은광석</a:t>
            </a:r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0" y="146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화학공정 없는 물리선별 · 유일한 흑자 방정식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5029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89C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정명근 Co-founder · jmk4893@dynamicindustry.kr · 2026.8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570 kt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66344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2030 인도 c-Si 폐패널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22576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377440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개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2377440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 경쟁시설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33672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88536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98%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288536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회수율 · 화학공정 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44768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9632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$8.71M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6199632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EBITDA · 마진 84%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055864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10728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년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8110728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회수기간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966960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021824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$15M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10021824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요청 · 3 트랜치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11480" y="2084832"/>
            <a:ext cx="3785616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" y="2212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문제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물량은 쌓이는데 모두 적자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" y="2660904"/>
            <a:ext cx="91440" cy="9144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28" name="Text 26"/>
          <p:cNvSpPr/>
          <p:nvPr/>
        </p:nvSpPr>
        <p:spPr>
          <a:xfrm>
            <a:off x="832104" y="2596896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50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기계식 손실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-₹10,230/t (CEEW 2025 실측)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" y="3136392"/>
            <a:ext cx="91440" cy="9144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" y="3072384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50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회수율 0%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 가치의 절반을 통째로 폐기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" y="3611880"/>
            <a:ext cx="91440" cy="914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" y="3547872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원가 79%가 역물류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바이백 68% + 수거·운송 11%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" y="4041648"/>
            <a:ext cx="3419856" cy="749808"/>
          </a:xfrm>
          <a:prstGeom prst="roundRect">
            <a:avLst>
              <a:gd name="adj" fmla="val 6098"/>
            </a:avLst>
          </a:prstGeom>
          <a:solidFill>
            <a:srgbClr val="E4F2E9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" y="4133088"/>
            <a:ext cx="3090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반전 — 폐모듈 은 함량 </a:t>
            </a:r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300~500ppm</a:t>
            </a:r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은광 채굴한계품위의 2~5배 · 1톤당 은 가치 약 $1,000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325112" y="2084832"/>
            <a:ext cx="3785616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6280" y="2212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솔루션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물리선별 은 98% — 손익 반전 (₹/t)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99432" y="3776472"/>
            <a:ext cx="3236976" cy="0"/>
          </a:xfrm>
          <a:prstGeom prst="line">
            <a:avLst/>
          </a:prstGeom>
          <a:noFill/>
          <a:ln w="12700">
            <a:solidFill>
              <a:srgbClr val="B9CCC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82312" y="3776472"/>
            <a:ext cx="713232" cy="127761"/>
          </a:xfrm>
          <a:prstGeom prst="roundRect">
            <a:avLst>
              <a:gd name="adj" fmla="val 14314"/>
            </a:avLst>
          </a:prstGeom>
          <a:solidFill>
            <a:srgbClr val="C0504D"/>
          </a:solidFill>
          <a:ln/>
        </p:spPr>
      </p:sp>
      <p:sp>
        <p:nvSpPr>
          <p:cNvPr id="39" name="Text 37"/>
          <p:cNvSpPr/>
          <p:nvPr/>
        </p:nvSpPr>
        <p:spPr>
          <a:xfrm>
            <a:off x="4553712" y="3922521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50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-10,230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53712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기계식 P1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61304" y="3776472"/>
            <a:ext cx="713232" cy="154125"/>
          </a:xfrm>
          <a:prstGeom prst="roundRect">
            <a:avLst>
              <a:gd name="adj" fmla="val 11866"/>
            </a:avLst>
          </a:prstGeom>
          <a:solidFill>
            <a:srgbClr val="C0504D"/>
          </a:solidFill>
          <a:ln/>
        </p:spPr>
      </p:sp>
      <p:sp>
        <p:nvSpPr>
          <p:cNvPr id="42" name="Text 40"/>
          <p:cNvSpPr/>
          <p:nvPr/>
        </p:nvSpPr>
        <p:spPr>
          <a:xfrm>
            <a:off x="5632704" y="3948885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50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-12,341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32704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화학식 P2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940296" y="2724912"/>
            <a:ext cx="713232" cy="1051560"/>
          </a:xfrm>
          <a:prstGeom prst="roundRect">
            <a:avLst>
              <a:gd name="adj" fmla="val 2564"/>
            </a:avLst>
          </a:prstGeom>
          <a:solidFill>
            <a:srgbClr val="2E8B57"/>
          </a:solidFill>
          <a:ln/>
        </p:spPr>
      </p:sp>
      <p:sp>
        <p:nvSpPr>
          <p:cNvPr id="45" name="Text 43"/>
          <p:cNvSpPr/>
          <p:nvPr/>
        </p:nvSpPr>
        <p:spPr>
          <a:xfrm>
            <a:off x="6711696" y="245059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+84,200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711696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07992" y="4297680"/>
            <a:ext cx="3419856" cy="493776"/>
          </a:xfrm>
          <a:prstGeom prst="roundRect">
            <a:avLst>
              <a:gd name="adj" fmla="val 9259"/>
            </a:avLst>
          </a:prstGeom>
          <a:solidFill>
            <a:srgbClr val="1B4D3E"/>
          </a:solidFill>
          <a:ln/>
        </p:spPr>
      </p:sp>
      <p:sp>
        <p:nvSpPr>
          <p:cNvPr id="48" name="Text 46"/>
          <p:cNvSpPr/>
          <p:nvPr/>
        </p:nvSpPr>
        <p:spPr>
          <a:xfrm>
            <a:off x="4654296" y="4334256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10단계 물리선별 — 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화학약품·폐액 제로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물질 유가화율 95% 이상 · 은 정광 26.7%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238744" y="2084832"/>
            <a:ext cx="3538728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9912" y="2212848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경제성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하방까지 검증된 흑자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439912" y="25968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695944" y="25968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은값 반토막($30/oz)에도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시나리오 전부 흑자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439912" y="29992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695944" y="29992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바이백 최악 가정에도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흑자 — 회수 2.1년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439912" y="34015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695944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EPR·게이트피 $0 계상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규제는 상방 (+$0.9~6.1M)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439912" y="3858768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4D3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구조 — 연 소재매출 $10.41M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439912" y="415137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정광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9262872" y="4183380"/>
            <a:ext cx="1691640" cy="137160"/>
          </a:xfrm>
          <a:prstGeom prst="roundRect">
            <a:avLst>
              <a:gd name="adj" fmla="val 13333"/>
            </a:avLst>
          </a:prstGeom>
          <a:solidFill>
            <a:srgbClr val="F5B325"/>
          </a:solidFill>
          <a:ln/>
        </p:spPr>
      </p:sp>
      <p:sp>
        <p:nvSpPr>
          <p:cNvPr id="60" name="Text 58"/>
          <p:cNvSpPr/>
          <p:nvPr/>
        </p:nvSpPr>
        <p:spPr>
          <a:xfrm>
            <a:off x="11073384" y="415137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56%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39912" y="440740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9262872" y="4439412"/>
            <a:ext cx="604157" cy="13716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63" name="Text 61"/>
          <p:cNvSpPr/>
          <p:nvPr/>
        </p:nvSpPr>
        <p:spPr>
          <a:xfrm>
            <a:off x="11073384" y="44074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439912" y="466344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구리·기타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262872" y="4695444"/>
            <a:ext cx="724989" cy="137160"/>
          </a:xfrm>
          <a:prstGeom prst="roundRect">
            <a:avLst>
              <a:gd name="adj" fmla="val 13333"/>
            </a:avLst>
          </a:prstGeom>
          <a:solidFill>
            <a:srgbClr val="589C78"/>
          </a:solidFill>
          <a:ln/>
        </p:spPr>
      </p:sp>
      <p:sp>
        <p:nvSpPr>
          <p:cNvPr id="66" name="Text 64"/>
          <p:cNvSpPr/>
          <p:nvPr/>
        </p:nvSpPr>
        <p:spPr>
          <a:xfrm>
            <a:off x="11073384" y="46634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24%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11480" y="5138928"/>
            <a:ext cx="11365992" cy="1207008"/>
          </a:xfrm>
          <a:prstGeom prst="roundRect">
            <a:avLst>
              <a:gd name="adj" fmla="val 5303"/>
            </a:avLst>
          </a:prstGeom>
          <a:solidFill>
            <a:srgbClr val="1B4D3E"/>
          </a:solidFill>
          <a:ln/>
        </p:spPr>
      </p:sp>
      <p:sp>
        <p:nvSpPr>
          <p:cNvPr id="68" name="Text 66"/>
          <p:cNvSpPr/>
          <p:nvPr/>
        </p:nvSpPr>
        <p:spPr>
          <a:xfrm>
            <a:off x="685800" y="53035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0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투자
</a:t>
            </a:r>
            <a:pPr indent="0" marL="0">
              <a:lnSpc>
                <a:spcPts val="2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$15M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286000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0" name="Text 68"/>
          <p:cNvSpPr/>
          <p:nvPr/>
        </p:nvSpPr>
        <p:spPr>
          <a:xfrm>
            <a:off x="2432304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T1 · $2.0M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실행 시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· 법인 · 설계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773168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2" name="Text 70"/>
          <p:cNvSpPr/>
          <p:nvPr/>
        </p:nvSpPr>
        <p:spPr>
          <a:xfrm>
            <a:off x="4919472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T2 · $5.0M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성공 + LOI 2건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부지 · 건축 · 설비 발주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260336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4" name="Text 72"/>
          <p:cNvSpPr/>
          <p:nvPr/>
        </p:nvSpPr>
        <p:spPr>
          <a:xfrm>
            <a:off x="7406640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T3 · $8.0M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인허가 + 수거계약 1호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· 시운전 · 운전자본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829800" y="5303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E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 누적 FCF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9829800" y="55046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+$26.4M</a:t>
            </a:r>
            <a:endParaRPr lang="en-US" sz="2000" dirty="0"/>
          </a:p>
        </p:txBody>
      </p:sp>
      <p:sp>
        <p:nvSpPr>
          <p:cNvPr id="77" name="Text 75"/>
          <p:cNvSpPr/>
          <p:nvPr/>
        </p:nvSpPr>
        <p:spPr>
          <a:xfrm>
            <a:off x="9829800" y="5925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89C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마일스톤 연동으로 리스크 단계 해소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11480" y="647395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CEEW 2025 실측 · CEEW×MNRE 2024 · 당사 기술보고서(한국 상세설계 24개 장, 전문가 9팀 검토) — 상세 근거는 투자사업계획서 47p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0424160" y="6473952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E8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2026-08-05T12:45:50Z</dcterms:created>
  <dcterms:modified xsi:type="dcterms:W3CDTF">2026-08-05T12:45:50Z</dcterms:modified>
</cp:coreProperties>
</file>