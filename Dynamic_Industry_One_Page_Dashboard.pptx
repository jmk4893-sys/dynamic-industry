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4D3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2880"/>
            <a:ext cx="612648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8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 INDUSTRY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188720" y="38404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인도 태양광 패널 재활용 — 폐모듈을 </a:t>
            </a:r>
            <a:pPr indent="0" marL="0">
              <a:buNone/>
            </a:pPr>
            <a:r>
              <a:rPr lang="en-US" sz="21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고품위 은광석</a:t>
            </a:r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으로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8229600" y="1463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화학공정 없는 물리선별 · 유일한 흑자 방정식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680960" y="502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정명근 Co-founder · jmk4893@dynamicindustry.kr · 2026.8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11480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66344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570 kt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66344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2030 인도 c-Si 폐패널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322576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377440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 개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377440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 경쟁시설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33672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288536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98%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4288536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회수율 · 화학공정 0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144768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99632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$8.71M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199632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EBITDA · 마진 84%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55864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110728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년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8110728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회수기간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966960" y="1078992"/>
            <a:ext cx="180136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8E0"/>
            </a:solidFill>
            <a:prstDash val="solid"/>
          </a:ln>
          <a:effectLst>
            <a:outerShdw sx="100000" sy="100000" kx="0" ky="0" algn="bl" rotWithShape="0" blurRad="63500" dist="25400" dir="5400000">
              <a:srgbClr val="1B4D3E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0021824" y="11521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$15M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10021824" y="15544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요청 · 3 트랜치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11480" y="2084832"/>
            <a:ext cx="3785616" cy="2871216"/>
          </a:xfrm>
          <a:prstGeom prst="roundRect">
            <a:avLst>
              <a:gd name="adj" fmla="val 2229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648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문제  </a:t>
            </a:r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물량은 쌓이는데 모두 적자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30936" y="2660904"/>
            <a:ext cx="91440" cy="9144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29" name="Text 26"/>
          <p:cNvSpPr/>
          <p:nvPr/>
        </p:nvSpPr>
        <p:spPr>
          <a:xfrm>
            <a:off x="832104" y="2596896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0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기계식 손실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-₹10,230/t (CEEW 2025 실측)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30936" y="3136392"/>
            <a:ext cx="91440" cy="9144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31" name="Text 28"/>
          <p:cNvSpPr/>
          <p:nvPr/>
        </p:nvSpPr>
        <p:spPr>
          <a:xfrm>
            <a:off x="832104" y="3072384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C050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회수율 0%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모듈 가치의 절반을 통째로 폐기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30936" y="3611880"/>
            <a:ext cx="91440" cy="9144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3" name="Text 30"/>
          <p:cNvSpPr/>
          <p:nvPr/>
        </p:nvSpPr>
        <p:spPr>
          <a:xfrm>
            <a:off x="832104" y="3547872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원가 79%가 역물류 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바이백 68% + 수거·운송 11%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94360" y="4041648"/>
            <a:ext cx="3419856" cy="749808"/>
          </a:xfrm>
          <a:prstGeom prst="roundRect">
            <a:avLst>
              <a:gd name="adj" fmla="val 6098"/>
            </a:avLst>
          </a:prstGeom>
          <a:solidFill>
            <a:srgbClr val="E4F2E9"/>
          </a:solidFill>
          <a:ln/>
        </p:spPr>
      </p:sp>
      <p:sp>
        <p:nvSpPr>
          <p:cNvPr id="35" name="Text 32"/>
          <p:cNvSpPr/>
          <p:nvPr/>
        </p:nvSpPr>
        <p:spPr>
          <a:xfrm>
            <a:off x="758952" y="4133088"/>
            <a:ext cx="30906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반전 — 폐모듈 은 함량 </a:t>
            </a:r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300~500ppm</a:t>
            </a:r>
            <a:pPr indent="0" marL="0">
              <a:lnSpc>
                <a:spcPts val="1500"/>
              </a:lnSpc>
              <a:buNone/>
            </a:pP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은광 채굴한계품위의 2~5배 · 1톤당 은 가치 약 $1,000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25112" y="2084832"/>
            <a:ext cx="3785616" cy="2871216"/>
          </a:xfrm>
          <a:prstGeom prst="roundRect">
            <a:avLst>
              <a:gd name="adj" fmla="val 2229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솔루션  </a:t>
            </a:r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물리선별 은 98% — 손익 반전 (₹/t)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599432" y="3776472"/>
            <a:ext cx="3236976" cy="0"/>
          </a:xfrm>
          <a:prstGeom prst="line">
            <a:avLst/>
          </a:prstGeom>
          <a:noFill/>
          <a:ln w="12700">
            <a:solidFill>
              <a:srgbClr val="B9CCC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782312" y="3776472"/>
            <a:ext cx="713232" cy="127761"/>
          </a:xfrm>
          <a:prstGeom prst="roundRect">
            <a:avLst>
              <a:gd name="adj" fmla="val 14314"/>
            </a:avLst>
          </a:prstGeom>
          <a:solidFill>
            <a:srgbClr val="C0504D"/>
          </a:solidFill>
          <a:ln/>
        </p:spPr>
      </p:sp>
      <p:sp>
        <p:nvSpPr>
          <p:cNvPr id="40" name="Text 37"/>
          <p:cNvSpPr/>
          <p:nvPr/>
        </p:nvSpPr>
        <p:spPr>
          <a:xfrm>
            <a:off x="4553712" y="3922521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-10,230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553712" y="4087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기계식 P1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61304" y="3776472"/>
            <a:ext cx="713232" cy="154125"/>
          </a:xfrm>
          <a:prstGeom prst="roundRect">
            <a:avLst>
              <a:gd name="adj" fmla="val 11866"/>
            </a:avLst>
          </a:prstGeom>
          <a:solidFill>
            <a:srgbClr val="C0504D"/>
          </a:solidFill>
          <a:ln/>
        </p:spPr>
      </p:sp>
      <p:sp>
        <p:nvSpPr>
          <p:cNvPr id="43" name="Text 40"/>
          <p:cNvSpPr/>
          <p:nvPr/>
        </p:nvSpPr>
        <p:spPr>
          <a:xfrm>
            <a:off x="5632704" y="3948885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504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-12,341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5632704" y="4087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화학식 P2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940296" y="2724912"/>
            <a:ext cx="713232" cy="1051560"/>
          </a:xfrm>
          <a:prstGeom prst="roundRect">
            <a:avLst>
              <a:gd name="adj" fmla="val 2564"/>
            </a:avLst>
          </a:prstGeom>
          <a:solidFill>
            <a:srgbClr val="2E8B57"/>
          </a:solidFill>
          <a:ln/>
        </p:spPr>
      </p:sp>
      <p:sp>
        <p:nvSpPr>
          <p:cNvPr id="46" name="Text 43"/>
          <p:cNvSpPr/>
          <p:nvPr/>
        </p:nvSpPr>
        <p:spPr>
          <a:xfrm>
            <a:off x="6711696" y="2450592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+84,200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6711696" y="4087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Dynamic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507992" y="4297680"/>
            <a:ext cx="3419856" cy="493776"/>
          </a:xfrm>
          <a:prstGeom prst="roundRect">
            <a:avLst>
              <a:gd name="adj" fmla="val 9259"/>
            </a:avLst>
          </a:prstGeom>
          <a:solidFill>
            <a:srgbClr val="1B4D3E"/>
          </a:solidFill>
          <a:ln/>
        </p:spPr>
      </p:sp>
      <p:sp>
        <p:nvSpPr>
          <p:cNvPr id="49" name="Text 46"/>
          <p:cNvSpPr/>
          <p:nvPr/>
        </p:nvSpPr>
        <p:spPr>
          <a:xfrm>
            <a:off x="4654296" y="433425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10단계 물리선별 — </a:t>
            </a:r>
            <a:pPr indent="0" marL="0">
              <a:lnSpc>
                <a:spcPts val="1300"/>
              </a:lnSpc>
              <a:buNone/>
            </a:pPr>
            <a:r>
              <a:rPr lang="en-US" sz="9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화학약품·폐액 제로</a:t>
            </a:r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물질 유가화율 95% 이상 · 은 정광 26.7%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8238744" y="2084832"/>
            <a:ext cx="3538728" cy="2871216"/>
          </a:xfrm>
          <a:prstGeom prst="roundRect">
            <a:avLst>
              <a:gd name="adj" fmla="val 2229"/>
            </a:avLst>
          </a:prstGeom>
          <a:solidFill>
            <a:srgbClr val="F7FBF8"/>
          </a:solidFill>
          <a:ln w="12700">
            <a:solidFill>
              <a:srgbClr val="DCE8E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39912" y="2212848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경제성  </a:t>
            </a:r>
            <a:pPr indent="0" marL="0">
              <a:buNone/>
            </a:pPr>
            <a:r>
              <a:rPr lang="en-US" sz="125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하방까지 검증된 흑자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8439912" y="25968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8695944" y="259689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은값 반토막($30/oz)에도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시나리오 전부 흑자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8439912" y="29992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8695944" y="299923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바이백 최악 가정에도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흑자 — 회수 2.1년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8439912" y="3401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B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4"/>
          <p:cNvSpPr/>
          <p:nvPr/>
        </p:nvSpPr>
        <p:spPr>
          <a:xfrm>
            <a:off x="8695944" y="34015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EPR·게이트피 $0 계상 </a:t>
            </a:r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규제는 상방 (+$0.9~6.1M)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8439912" y="3858768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D3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구조 — 연 소재매출 $10.41M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8439912" y="415137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은 정광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9262872" y="4183380"/>
            <a:ext cx="1691640" cy="137160"/>
          </a:xfrm>
          <a:prstGeom prst="roundRect">
            <a:avLst>
              <a:gd name="adj" fmla="val 13333"/>
            </a:avLst>
          </a:prstGeom>
          <a:solidFill>
            <a:srgbClr val="F5B325"/>
          </a:solidFill>
          <a:ln/>
        </p:spPr>
      </p:sp>
      <p:sp>
        <p:nvSpPr>
          <p:cNvPr id="61" name="Text 58"/>
          <p:cNvSpPr/>
          <p:nvPr/>
        </p:nvSpPr>
        <p:spPr>
          <a:xfrm>
            <a:off x="11073384" y="415137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56%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8439912" y="44074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알루미늄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9262872" y="4439412"/>
            <a:ext cx="604157" cy="137160"/>
          </a:xfrm>
          <a:prstGeom prst="roundRect">
            <a:avLst>
              <a:gd name="adj" fmla="val 13333"/>
            </a:avLst>
          </a:prstGeom>
          <a:solidFill>
            <a:srgbClr val="2E8B57"/>
          </a:solidFill>
          <a:ln/>
        </p:spPr>
      </p:sp>
      <p:sp>
        <p:nvSpPr>
          <p:cNvPr id="64" name="Text 61"/>
          <p:cNvSpPr/>
          <p:nvPr/>
        </p:nvSpPr>
        <p:spPr>
          <a:xfrm>
            <a:off x="11073384" y="440740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20%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8439912" y="466344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구리·기타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9262872" y="4695444"/>
            <a:ext cx="724989" cy="137160"/>
          </a:xfrm>
          <a:prstGeom prst="roundRect">
            <a:avLst>
              <a:gd name="adj" fmla="val 13333"/>
            </a:avLst>
          </a:prstGeom>
          <a:solidFill>
            <a:srgbClr val="589C78"/>
          </a:solidFill>
          <a:ln/>
        </p:spPr>
      </p:sp>
      <p:sp>
        <p:nvSpPr>
          <p:cNvPr id="67" name="Text 64"/>
          <p:cNvSpPr/>
          <p:nvPr/>
        </p:nvSpPr>
        <p:spPr>
          <a:xfrm>
            <a:off x="11073384" y="46634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D3E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24%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411480" y="5138928"/>
            <a:ext cx="11365992" cy="1207008"/>
          </a:xfrm>
          <a:prstGeom prst="roundRect">
            <a:avLst>
              <a:gd name="adj" fmla="val 5303"/>
            </a:avLst>
          </a:prstGeom>
          <a:solidFill>
            <a:srgbClr val="1B4D3E"/>
          </a:solidFill>
          <a:ln/>
        </p:spPr>
      </p:sp>
      <p:sp>
        <p:nvSpPr>
          <p:cNvPr id="69" name="Text 66"/>
          <p:cNvSpPr/>
          <p:nvPr/>
        </p:nvSpPr>
        <p:spPr>
          <a:xfrm>
            <a:off x="685800" y="530352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0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투자
</a:t>
            </a:r>
            <a:pPr indent="0" marL="0">
              <a:lnSpc>
                <a:spcPts val="22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$15M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286000" y="5303520"/>
            <a:ext cx="2340864" cy="877824"/>
          </a:xfrm>
          <a:prstGeom prst="roundRect">
            <a:avLst>
              <a:gd name="adj" fmla="val 5208"/>
            </a:avLst>
          </a:prstGeom>
          <a:solidFill>
            <a:srgbClr val="28604C"/>
          </a:solidFill>
          <a:ln/>
        </p:spPr>
      </p:sp>
      <p:sp>
        <p:nvSpPr>
          <p:cNvPr id="71" name="Text 68"/>
          <p:cNvSpPr/>
          <p:nvPr/>
        </p:nvSpPr>
        <p:spPr>
          <a:xfrm>
            <a:off x="2432304" y="537667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T1 · $2.0M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실행 시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· 법인 · 설계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4773168" y="5303520"/>
            <a:ext cx="2340864" cy="877824"/>
          </a:xfrm>
          <a:prstGeom prst="roundRect">
            <a:avLst>
              <a:gd name="adj" fmla="val 5208"/>
            </a:avLst>
          </a:prstGeom>
          <a:solidFill>
            <a:srgbClr val="28604C"/>
          </a:solidFill>
          <a:ln/>
        </p:spPr>
      </p:sp>
      <p:sp>
        <p:nvSpPr>
          <p:cNvPr id="73" name="Text 70"/>
          <p:cNvSpPr/>
          <p:nvPr/>
        </p:nvSpPr>
        <p:spPr>
          <a:xfrm>
            <a:off x="4919472" y="537667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T2 · $5.0M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파일럿 성공 + LOI 2건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부지 · 건축 · 설비 발주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7260336" y="5303520"/>
            <a:ext cx="2340864" cy="877824"/>
          </a:xfrm>
          <a:prstGeom prst="roundRect">
            <a:avLst>
              <a:gd name="adj" fmla="val 5208"/>
            </a:avLst>
          </a:prstGeom>
          <a:solidFill>
            <a:srgbClr val="28604C"/>
          </a:solidFill>
          <a:ln/>
        </p:spPr>
      </p:sp>
      <p:sp>
        <p:nvSpPr>
          <p:cNvPr id="75" name="Text 72"/>
          <p:cNvSpPr/>
          <p:nvPr/>
        </p:nvSpPr>
        <p:spPr>
          <a:xfrm>
            <a:off x="7406640" y="5376672"/>
            <a:ext cx="206654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5B3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T3 · $8.0M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인허가 + 수거계약 1호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· 시운전 · 운전자본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9829800" y="5303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DE8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5년 누적 FCF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9829800" y="5504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+$26.4M</a:t>
            </a:r>
            <a:endParaRPr lang="en-US" sz="2000" dirty="0"/>
          </a:p>
        </p:txBody>
      </p:sp>
      <p:sp>
        <p:nvSpPr>
          <p:cNvPr id="78" name="Text 75"/>
          <p:cNvSpPr/>
          <p:nvPr/>
        </p:nvSpPr>
        <p:spPr>
          <a:xfrm>
            <a:off x="9829800" y="5925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589C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연동으로 리스크 단계 해소</a:t>
            </a:r>
            <a:endParaRPr lang="en-US" sz="800" dirty="0"/>
          </a:p>
        </p:txBody>
      </p:sp>
      <p:sp>
        <p:nvSpPr>
          <p:cNvPr id="79" name="Text 76"/>
          <p:cNvSpPr/>
          <p:nvPr/>
        </p:nvSpPr>
        <p:spPr>
          <a:xfrm>
            <a:off x="411480" y="6473952"/>
            <a:ext cx="9601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CEEW 2025 실측 · CEEW×MNRE 2024 · 당사 기술보고서(한국 상세설계 24개 장, 전문가 9팀 검토) — 상세 근거는 투자사업계획서 47p</a:t>
            </a:r>
            <a:endParaRPr lang="en-US" sz="800" dirty="0"/>
          </a:p>
        </p:txBody>
      </p:sp>
      <p:sp>
        <p:nvSpPr>
          <p:cNvPr id="80" name="Text 77"/>
          <p:cNvSpPr/>
          <p:nvPr/>
        </p:nvSpPr>
        <p:spPr>
          <a:xfrm>
            <a:off x="10424160" y="6473952"/>
            <a:ext cx="1353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6E8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2026-08-05T13:19:39Z</dcterms:created>
  <dcterms:modified xsi:type="dcterms:W3CDTF">2026-08-05T13:19:39Z</dcterms:modified>
</cp:coreProperties>
</file>